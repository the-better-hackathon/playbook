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(0:00, 1 minute)</a:t>
            </a:r>
          </a:p>
          <a:p>
            <a:r>
              <a:t>Welcome! Today is a 60-minute workshop on how to win a hackathon.</a:t>
            </a:r>
          </a:p>
          <a:p>
            <a:r>
              <a:t>This deck is also your team's workbook. Every slide marked with the gold Workbook tag is a question your team answers.</a:t>
            </a:r>
          </a:p>
          <a:p>
            <a:r>
              <a:t>By the end you'll have a head start on your idea, your plan, and your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A COPY (0:01, 2 minutes)</a:t>
            </a:r>
          </a:p>
          <a:p>
            <a:r>
              <a:t>Scan the QR code or open the link, then File &gt; Make a copy. One copy per team; share it with everyone on the team.</a:t>
            </a:r>
          </a:p>
          <a:p>
            <a:r>
              <a:t>Every gold Workbook slide is a question for your team. You won't finish them all today, and that's fine: keep going during the hackathon.</a:t>
            </a:r>
          </a:p>
          <a:p>
            <a:r>
              <a:t>[Add the workbook link and QR code here once the workbook is published.]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 INFO (reference)</a:t>
            </a:r>
          </a:p>
          <a:p>
            <a:r>
              <a:t>Fill this in from the event rules and website. Everything else in the workbook points back here.</a:t>
            </a:r>
          </a:p>
          <a:p>
            <a:r>
              <a:t>The two lines that matter most: what to submit and the deadline. Put the deadline in your phone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(30 seconds)</a:t>
            </a:r>
          </a:p>
          <a:p>
            <a:r>
              <a:t>The flow follows the eight steps of a hackathon. Each step has a few workbook questions.</a:t>
            </a:r>
          </a:p>
          <a:p>
            <a:r>
              <a:t>We'll answer one or two together in the room; the rest are for your team during the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I AM (0:03, 2 minutes)</a:t>
            </a:r>
          </a:p>
          <a:p>
            <a:r>
              <a:t>Turn off notifications. DBC-style intro: name + pronouns, title/company/program, where you're from, something you love, and a quirk.</a:t>
            </a:r>
          </a:p>
          <a:p>
            <a:r>
              <a:t>Title/company: developer advocate at IBM Research; Dev Bootcamp SF grad; came into IBM through IBM's Tech Re-Entry program. Also Compass Detroit, GDG Detroit, and Michigan DevFest.</a:t>
            </a:r>
          </a:p>
          <a:p>
            <a:r>
              <a:t>Something I love: my dog Giselle. Quirk: [your quirk].</a:t>
            </a:r>
          </a:p>
          <a:p>
            <a:r>
              <a:t>Find me everywhere at @jritten or linktr.ee/jritten.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 DO (0:05, 2 minutes)</a:t>
            </a:r>
          </a:p>
          <a:p>
            <a:r>
              <a:t>Everyone has the potential to learn and be technical. Community first, collaborative, no such thing as a dumb question.</a:t>
            </a:r>
          </a:p>
          <a:p>
            <a:r>
              <a:t>InnerSource: prevent reinventing the wheel by breaking down silos so anyone can be part of any project. Before you build, ask: does this already exist? Can I contribute to it or start from a template?</a:t>
            </a:r>
          </a:p>
          <a:p>
            <a:r>
              <a:t>That same habit wins hackathons: find what's out there, then build the part nobody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YOUR TEAM (0:07, 3 minutes)</a:t>
            </a:r>
          </a:p>
          <a:p>
            <a:r>
              <a:t>Hackathons aren't just about coding; they're about the people you build with. Give everyone 30 seconds: name, pronouns, program, something you love, and a quirk.</a:t>
            </a:r>
          </a:p>
          <a:p>
            <a:r>
              <a:t>Add "skills you bring" so you can split up the work later. Fill the table as you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HACKATHON BREAKDOWN (0:10, 2 minutes)</a:t>
            </a:r>
          </a:p>
          <a:p>
            <a:r>
              <a:t>Hackathons can feel like a marathon, especially your first. It doesn't have to be overwhelming.</a:t>
            </a:r>
          </a:p>
          <a:p>
            <a:r>
              <a:t>Eight steps: find the idea, research it, lock it in, scope the MVP, build, pitch, demo, and submit on time. The rest of the workbook follows these steps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COME UP WITH AN IDEA (0:12, 8 minutes for this step)</a:t>
            </a:r>
          </a:p>
          <a:p>
            <a:r>
              <a:t>Start with the theme and a real person, not the tech. Five questions; we'll do the first two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THE THEME? (1 minute)</a:t>
            </a:r>
          </a:p>
          <a:p>
            <a:r>
              <a:t>Pick your track first; it tells you who judges expect you to help. Write it in your own words, not the sponsor's.</a:t>
            </a:r>
          </a:p>
          <a:p>
            <a:r>
              <a:t>Check the Event Info slide for the tracks.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WHO'S THE USER? (2 minutes)</a:t>
            </a:r>
          </a:p>
          <a:p>
            <a:r>
              <a:t>Be specific: "a first-year student who commutes by bus," not "students." A real person makes every later answer easier.</a:t>
            </a:r>
          </a:p>
          <a:p>
            <a:r>
              <a:t>Do this one together in the room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DOES THIS MATTER? (1 minute)</a:t>
            </a:r>
          </a:p>
          <a:p>
            <a:r>
              <a:t>This becomes the first 20 seconds of your pitch. Think about scale and frequency: how many people, how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 I CARE? (1 minute)</a:t>
            </a:r>
          </a:p>
          <a:p>
            <a:r>
              <a:t>Personal connection is the most memorable part of any pitch. If someone on the team lived this problem, that's your opener.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STATEMENT (2 minutes)</a:t>
            </a:r>
          </a:p>
          <a:p>
            <a:r>
              <a:t>One sentence that pulls the last four answers together. Your submission and your pitch both start here.</a:t>
            </a:r>
          </a:p>
          <a:p>
            <a:r>
              <a:t>Example: "Commuting students struggle to catch the right bus because they can't tell when it's full, which costs them late arrivals to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RESEARCH THE IDEA (0:20, 8 minutes for this step)</a:t>
            </a:r>
          </a:p>
          <a:p>
            <a:r>
              <a:t>Before you build, find out how big the problem is and what already exists. Judges will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 IMPACT? (2 minutes)</a:t>
            </a:r>
          </a:p>
          <a:p>
            <a:r>
              <a:t>Two numbers is the sweet spot for a pitch: one for scale, one for cost or pain. Use the dataset links at the end of the deck.</a:t>
            </a:r>
          </a:p>
          <a:p>
            <a:r>
              <a:t>Always keep the source; judges notice.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SOLUTIONS ALREADY EXIST? (2 minutes)</a:t>
            </a:r>
          </a:p>
          <a:p>
            <a:r>
              <a:t>Something almost always exists. That's good news: it proves the problem is real and shows you where the gaps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ARE THEY FAILING? (1 minute)</a:t>
            </a:r>
          </a:p>
          <a:p>
            <a:r>
              <a:t>The gap you find here is your opportunity. Tie it back to the specific user you named.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IT BETTER (1 minute)</a:t>
            </a:r>
          </a:p>
          <a:p>
            <a:r>
              <a:t>This one sentence is your value proposition. You'll reuse it in the pitch, the submission, and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FOR AI (2 minutes)</a:t>
            </a:r>
          </a:p>
          <a:p>
            <a:r>
              <a:t>Design thinking keeps the user at the center. With AI, add ethics: where could bias come in, and how will people interact with it?</a:t>
            </a:r>
          </a:p>
          <a:p>
            <a:r>
              <a:t>Take time to be thoughtful here; this is what separates good ideas from great ones. The next three slides are the questions. IBM's Design for AI team essentials is linked on the resources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DOES YOUR AI IMPACT USERS? (during the hackathon)</a:t>
            </a:r>
          </a:p>
          <a:p>
            <a:r>
              <a:t>Think about both sides: the benefit, and the harm of a wrong answer. Skip this and the next two if you're not using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BIASES MIGHT BE INTRODUCED? (during the hackathon)</a:t>
            </a:r>
          </a:p>
          <a:p>
            <a:r>
              <a:t>Bias usually comes from the data. Who is under-represented? Who did you not test with?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CAN YOU MITIGATE THESE BIASES? (during the hackathon)</a:t>
            </a:r>
          </a:p>
          <a:p>
            <a:r>
              <a:t>Even one concrete step is a strong answer for judges. Mention it in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FINALIZE YOUR IDEA (0:28, 8 minutes for this step)</a:t>
            </a:r>
          </a:p>
          <a:p>
            <a:r>
              <a:t>You should have a clear answer to each of these questions before you start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THE BUSINESS VALUE? (1 minute)</a:t>
            </a:r>
          </a:p>
          <a:p>
            <a:r>
              <a:t>Business value doesn't have to mean profit. Adoption by a school, city, or nonprofit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THE IMPACT? (1 minute)</a:t>
            </a:r>
          </a:p>
          <a:p>
            <a:r>
              <a:t>Earlier you measured the size of the problem. Now: what changes if your solution works? Pick one thing you could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IT REALISTIC? (1 minute)</a:t>
            </a:r>
          </a:p>
          <a:p>
            <a:r>
              <a:t>Did you factor in the time and resources you actually have? If not, shrink the idea now, not at 3 a.m.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DID YOU INNOVATE? (1 minute)</a:t>
            </a:r>
          </a:p>
          <a:p>
            <a:r>
              <a:t>How strong is your awareness of how others are solving the same problem? Innovation can be a new user, a new combination, or a better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VALUATION, PART 1 (1 minute)</a:t>
            </a:r>
          </a:p>
          <a:p>
            <a:r>
              <a:t>You have a great idea; what's the potential out there? Who needs this, and how many of them? A rough, sourced estimate beats no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VALUATION, PART 2 (1 minute)</a:t>
            </a:r>
          </a:p>
          <a:p>
            <a:r>
              <a:t>What are they willing to pay, and what makes this sustainable? Show you've thought beyond the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ANALYSIS, PART 1 (1 minute)</a:t>
            </a:r>
          </a:p>
          <a:p>
            <a:r>
              <a:t>Every great idea has competitors. Reuse what you found in Research. Ask: what's missing in the current solutions?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ANALYSIS, PART 2 (1 minute)</a:t>
            </a:r>
          </a:p>
          <a:p>
            <a:r>
              <a:t>This is where you show why your idea has a unique edge. One or two gaps is plenty.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MONETIZATION, PART 1 (1 minute)</a:t>
            </a:r>
          </a:p>
          <a:p>
            <a:r>
              <a:t>How does it make money or sustain itself? Whatever you choose, it should fit what your users need and can afford. It tells judges you're building something sustainable.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MONETIZATION, PART 2 (during the hackathon)</a:t>
            </a:r>
          </a:p>
          <a:p>
            <a:r>
              <a:t>Think hosting, AI usage, and data costs vs. revenue or savings. Sponsor credits cover a lot of the weekend's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DETERMINE THE MVP (0:36, 7 minutes with Hack It Out)</a:t>
            </a:r>
          </a:p>
          <a:p>
            <a:r>
              <a:t>Why build from scratch? If someone already solved 70% of the problem, use that to solve the next 30% in a new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FRAMEWORKS (1 minute)</a:t>
            </a:r>
          </a:p>
          <a:p>
            <a:r>
              <a:t>AI and open source aren't buzzwords at a hackathon; they're leverage. Start with sponsor tools since they come with credits and often a prize.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OPEN-SOURCE TOOLS (1 minute)</a:t>
            </a:r>
          </a:p>
          <a:p>
            <a:r>
              <a:t>Check the license and the event rules on outside code. Credit what you use in your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THE SCOPE? (2 minutes)</a:t>
            </a:r>
          </a:p>
          <a:p>
            <a:r>
              <a:t>One core flow, done well, beats five half-built features. The "later" column becomes your next-steps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KISS METHOD (1 minute)</a:t>
            </a:r>
          </a:p>
          <a:p>
            <a:r>
              <a:t>Skip login and auth; judges don't care. Build the main function and main view, add at most one extra feature, and write the rest down as future features.</a:t>
            </a:r>
          </a:p>
          <a:p>
            <a:r>
              <a:t>Last check: are you solving the problem, or just a symptom?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HACK IT OUT</a:t>
            </a:r>
          </a:p>
          <a:p>
            <a:r>
              <a:t>Split the work early, plan the time, and know the rules before you write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ROLES (2 minutes)</a:t>
            </a:r>
          </a:p>
          <a:p>
            <a:r>
              <a:t>Delegate roles, not just tasks. Name a team lead first; they own the timeline and the submission.</a:t>
            </a:r>
          </a:p>
          <a:p>
            <a:r>
              <a:t>Builders own the repo and MVP, design/UX owns the flow, and the research + pitch lead owns the story. People can hold more than one role on small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PLAN (2 minutes)</a:t>
            </a:r>
          </a:p>
          <a:p>
            <a:r>
              <a:t>Work backwards from the deadline. The biggest mistake is building until the last minute with no pitch and no video.</a:t>
            </a:r>
          </a:p>
          <a:p>
            <a:r>
              <a:t>Feature freeze is a real line: after it you only fix bugs and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 AND DATA RULES (1 minute)</a:t>
            </a:r>
          </a:p>
          <a:p>
            <a:r>
              <a:t>Four rules that keep you out of trouble: only data you're allowed to use, no personal information, no API keys in the repo, and be upfront about which AI tools you used.</a:t>
            </a:r>
          </a:p>
          <a:p>
            <a:r>
              <a:t>Put keys in environment variables or a .env file listed in .gitignore. Also check the event rules for anything extra, like code written before the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6: BUILD A PITCH DECK (0:43, 9 minutes with the demo)</a:t>
            </a:r>
          </a:p>
          <a:p>
            <a:r>
              <a:t>A solid pitch deck tells your story with clarity and confidence: team, problem, impact, solution, demo. Judges need to see the problem it solves and why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BREAKDOWN (2 minutes)</a:t>
            </a:r>
          </a:p>
          <a:p>
            <a:r>
              <a:t>This is the order of your slides. You already wrote most of it: problem statement, impact data, and "do it better."</a:t>
            </a:r>
          </a:p>
          <a:p>
            <a:r>
              <a:t>Pitch deck outline template: https://ibm.biz/pitch-deck-outline (QR on the resources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PASSIONATE (1 minute)</a:t>
            </a:r>
          </a:p>
          <a:p>
            <a:r>
              <a:t>Why did you join this hackathon? Why this problem? Judges will only be as excited about your solution as you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A STORY (1 minute)</a:t>
            </a:r>
          </a:p>
          <a:p>
            <a:r>
              <a:t>Think Bilbo Baggins or Luke Skywalker: a hero, a crisis, a resolution, an adventure, and a look ahead.</a:t>
            </a:r>
          </a:p>
          <a:p>
            <a:r>
              <a:t>Your user is the hero, not your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YOUR RESEARCH (30 seconds)</a:t>
            </a:r>
          </a:p>
          <a:p>
            <a:r>
              <a:t>Who's your market, how big is it, and where (region, platform)? Who are your competitors, how are you different, and what's your advantage?</a:t>
            </a:r>
          </a:p>
          <a:p>
            <a:r>
              <a:t>These come straight from the Finalize Your Idea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EARLY (30 seconds)</a:t>
            </a:r>
          </a:p>
          <a:p>
            <a:r>
              <a:t>Don't leave the deck for the last hour. Start it right after you lock the idea and update it as you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MEMORIZE, WRITE IT DOWN (30 seconds)</a:t>
            </a:r>
          </a:p>
          <a:p>
            <a:r>
              <a:t>Memorized pitches sound robotic and fall apart when you lose your place. Talking points keep you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7: PRACTICE THE DEMO</a:t>
            </a:r>
          </a:p>
          <a:p>
            <a:r>
              <a:t>It's not enough to build something great if it doesn't come across in the demo. Practice, get feedback, and anticipate questions. Demos don't have to be perfect; they have to be effective.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BREAKDOWN (1 minute)</a:t>
            </a:r>
          </a:p>
          <a:p>
            <a:r>
              <a:t>Split presenting and demoing so nobody is talking and typing at once. Everyone tests, practice out loud, demo to another team, and apply their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60-SECOND DEMO VIDEO SCRIPT (2 minutes)</a:t>
            </a:r>
          </a:p>
          <a:p>
            <a:r>
              <a:t>Many hackathons ask for a short demo video. Even if yours doesn't, a recording is your backup if the live demo breaks.</a:t>
            </a:r>
          </a:p>
          <a:p>
            <a:r>
              <a:t>Structure: user, problem, three clicks through the solution, impact. Show the product, not your slides; one screen recording with voiceover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SHOULD TEST THE DEMO (30 seconds)</a:t>
            </a:r>
          </a:p>
          <a:p>
            <a:r>
              <a:t>The person who built a feature is the worst tester of it. Fresh eyes find the bugs judges will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WITH ANOTHER TEAM (30 seconds)</a:t>
            </a:r>
          </a:p>
          <a:p>
            <a:r>
              <a:t>Another team is the closest thing to a judge you have. Offer to return the favor.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THEIR FEEDBACK (1 minute)</a:t>
            </a:r>
          </a:p>
          <a:p>
            <a:r>
              <a:t>You won't fix everything. Pick the one or two changes that make the story clearer.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 QUESTIONS (1 minute)</a:t>
            </a:r>
          </a:p>
          <a:p>
            <a:r>
              <a:t>Expect: what did you build it on, how are you different, and my personal favorite, how will you monetize?</a:t>
            </a:r>
          </a:p>
          <a:p>
            <a:r>
              <a:t>Before moving on, ask the room: what's the most important rule of any hackathon that always gets broken? (Submit on time.)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THINGS GO WRONG (1 minute)</a:t>
            </a:r>
          </a:p>
          <a:p>
            <a:r>
              <a:t>Code breaks, Wi-Fi drops, a teammate leaves early. It happens to the best of us. Our advice: just keep pitching.</a:t>
            </a:r>
          </a:p>
          <a:p>
            <a:r>
              <a:t>Have click-by-click screenshots and a 1-minute video of the app working. If it goes down on stage, pitch as if it still works; you can even keep it light and remind people you built it in a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8: SUBMIT ON TIME (0:52, 3 minutes)</a:t>
            </a:r>
          </a:p>
          <a:p>
            <a:r>
              <a:t>The most important rule of any hackathon, and the one that always gets broken. Sometimes the best ideas don't win; the best-presented ideas do. Check the deadline on the Event Info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JUDGING CRITERIA MAP (1 minute)</a:t>
            </a:r>
          </a:p>
          <a:p>
            <a:r>
              <a:t>Judges score against a rubric. If a criterion isn't clearly visible in your pitch or demo, you get no points for it.</a:t>
            </a:r>
          </a:p>
          <a:p>
            <a:r>
              <a:t>Common criteria: impact, technical difficulty, use of sponsor tech, design/UX, and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SUBMISSION CHECKLIST (1 minute)</a:t>
            </a:r>
          </a:p>
          <a:p>
            <a:r>
              <a:t>Submit early, then edit. Most platforms let you update until the deadline, but not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DO IT! (30 seconds)</a:t>
            </a:r>
          </a:p>
          <a:p>
            <a:r>
              <a:t>Hackathons are as much about learning and connecting as building. Don't worry about perfection; embrace the chaos and make the most of it.</a:t>
            </a:r>
          </a:p>
          <a:p>
            <a:r>
              <a:t>Stay connected: https://linktr.ee/jritten · https://bit.ly/jritten_youtube · https://www.linkedin.com/in/jritten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(0:55, 5 minutes)</a:t>
            </a:r>
          </a:p>
          <a:p>
            <a:r>
              <a:t>Take questions. Remind teams to make their copy of the workbook and keep filling it in.</a:t>
            </a:r>
          </a:p>
          <a:p>
            <a:r>
              <a:t>Resources follow: datasets, AI tools, and design + pitch + developer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RESOURCES: PUBLIC DATASETS</a:t>
            </a:r>
          </a:p>
          <a:p>
            <a:r>
              <a:t>Kaggle: https://www.kaggle.com/datasets</a:t>
            </a:r>
          </a:p>
          <a:p>
            <a:r>
              <a:t>Hugging Face Datasets: https://huggingface.co/datasets</a:t>
            </a:r>
          </a:p>
          <a:p>
            <a:r>
              <a:t>Google Dataset Search: https://datasetsearch.research.google.com</a:t>
            </a:r>
          </a:p>
          <a:p>
            <a:r>
              <a:t>Data.gov: https://data.gov</a:t>
            </a:r>
          </a:p>
          <a:p>
            <a:r>
              <a:t>Michigan Open Data: https://data.michigan.gov</a:t>
            </a:r>
          </a:p>
          <a:p>
            <a:r>
              <a:t>GitHub datasets: https://github.com/search?q=datasets</a:t>
            </a:r>
          </a:p>
          <a:p>
            <a:r>
              <a:t>Atlassian free datasets guide: https://www.atlassian.com/data/business-intelligence/free-datasets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RESOURCES: AI MODELS AND TOOLS</a:t>
            </a:r>
          </a:p>
          <a:p>
            <a:r>
              <a:t>IBM Granite (open models): https://www.ibm.com/granite</a:t>
            </a:r>
          </a:p>
          <a:p>
            <a:r>
              <a:t>IBM watsonx: https://www.ibm.com/watsonx</a:t>
            </a:r>
          </a:p>
          <a:p>
            <a:r>
              <a:t>Google AI for Developers (Gemini API): https://ai.google.dev</a:t>
            </a:r>
          </a:p>
          <a:p>
            <a:r>
              <a:t>Google Vertex AI: https://cloud.google.com/vertex-ai</a:t>
            </a:r>
          </a:p>
          <a:p>
            <a:r>
              <a:t>Hugging Face Models: https://huggingface.co/models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RESOURCES: DESIGN, PITCH, AND DEVELOPER</a:t>
            </a:r>
          </a:p>
          <a:p>
            <a:r>
              <a:t>IBM Design for AI team essentials: https://www.ibm.com/design/ai/team-essentials</a:t>
            </a:r>
          </a:p>
          <a:p>
            <a:r>
              <a:t>Pitch deck outline: https://ibm.biz/pitch-deck-outline</a:t>
            </a:r>
          </a:p>
          <a:p>
            <a:r>
              <a:t>IBM Developer: https://developer.ibm.com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852160" cy="1645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600" b="1" i="0">
                <a:solidFill>
                  <a:srgbClr val="3C78D8"/>
                </a:solidFill>
                <a:latin typeface="Google Sans"/>
              </a:rPr>
              <a:t>How to Win a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566928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2200" b="0" i="0">
                <a:solidFill>
                  <a:srgbClr val="20344B"/>
                </a:solidFill>
                <a:latin typeface="Google Sans"/>
              </a:rPr>
              <a:t>Workshop + Team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Jenna Ritten  ·  @jritten</a:t>
            </a:r>
          </a:p>
        </p:txBody>
      </p:sp>
      <p:pic>
        <p:nvPicPr>
          <p:cNvPr id="6" name="Picture 5" descr="c29_4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04" y="1234440"/>
            <a:ext cx="3435176" cy="3017520"/>
          </a:xfrm>
          <a:prstGeom prst="rect">
            <a:avLst/>
          </a:prstGeom>
        </p:spPr>
      </p:pic>
      <p:pic>
        <p:nvPicPr>
          <p:cNvPr id="7" name="Picture 6" descr="c44_6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89120"/>
            <a:ext cx="1273069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Make Your Team’s 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Open the workbook 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46504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File  →  Make a copy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50008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Name it with your team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53512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Share it with your teammates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57016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Fill in every slide marked ✏️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143000"/>
            <a:ext cx="3017520" cy="301752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1400" b="1" i="0">
                <a:solidFill>
                  <a:srgbClr val="0F7C67"/>
                </a:solidFill>
                <a:latin typeface="Google Sans"/>
              </a:rPr>
              <a:t>[ Workbook QR code ]</a:t>
            </a:r>
          </a:p>
          <a:p>
            <a:pPr algn="ctr"/>
            <a:r>
              <a:rPr sz="1400" b="1" i="0">
                <a:solidFill>
                  <a:srgbClr val="0F7C67"/>
                </a:solidFill>
                <a:latin typeface="Google Sans"/>
              </a:rPr>
              <a:t/>
            </a:r>
          </a:p>
          <a:p>
            <a:pPr algn="ctr"/>
            <a:r>
              <a:rPr sz="1400" b="1" i="0">
                <a:solidFill>
                  <a:srgbClr val="0F7C67"/>
                </a:solidFill>
                <a:latin typeface="Google Sans"/>
              </a:rPr>
              <a:t>[ workbook link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300" b="0" i="0">
                <a:solidFill>
                  <a:srgbClr val="5F6368"/>
                </a:solidFill>
                <a:latin typeface="Google Sans"/>
              </a:rPr>
              <a:t>One copy per team. Keep it open all hackathon.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Event Info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8229600" cy="36758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612648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oogle Sans"/>
                        </a:rPr>
                        <a:t>What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oogle Sans"/>
                        </a:rPr>
                        <a:t>Details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Event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Dates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Location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Tracks / themes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Sponsor tools + credits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What to submit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Where to submit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Deadline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Presentation length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Judging criteria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Today’s 60 Minutes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3931920" cy="26334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31520"/>
                <a:gridCol w="32004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oogle Sans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oogle Sans"/>
                        </a:rPr>
                        <a:t>What we’re doing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Welcome + make your copy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0:03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Who I am + what I do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0:07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Meet your team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Hackathon breakdown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Come up with an idea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Research the idea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051560"/>
          <a:ext cx="3931920" cy="22494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31520"/>
                <a:gridCol w="32004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oogle Sans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oogle Sans"/>
                        </a:rPr>
                        <a:t>What we’re doing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0:28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Finalize your idea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0:36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Determine the MVP + hack it out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0:43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Pitch deck + demo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0:52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Submit on 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0:55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Q&amp;A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Who I Am</a:t>
            </a:r>
          </a:p>
        </p:txBody>
      </p:sp>
      <p:pic>
        <p:nvPicPr>
          <p:cNvPr id="5" name="Picture 4" descr="s12_3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91840" y="100584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2400" b="1" i="0">
                <a:solidFill>
                  <a:srgbClr val="20344B"/>
                </a:solidFill>
                <a:latin typeface="Google Sans"/>
              </a:rPr>
              <a:t>Jenna Ritten </a:t>
            </a:r>
            <a:r>
              <a:rPr sz="1600" b="0" i="0">
                <a:solidFill>
                  <a:srgbClr val="5F6368"/>
                </a:solidFill>
                <a:latin typeface="Google Sans"/>
              </a:rPr>
              <a:t>(she/her)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539496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Chief Developer Advocate &amp; Architect, IBM Research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Founding Executive Director, Compass Detroit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Co-lead, GDG Detroit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Organizer, Michigan DevFest</a:t>
            </a:r>
          </a:p>
        </p:txBody>
      </p:sp>
      <p:pic>
        <p:nvPicPr>
          <p:cNvPr id="8" name="Picture 7" descr="s12_3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429000"/>
            <a:ext cx="365760" cy="365760"/>
          </a:xfrm>
          <a:prstGeom prst="rect">
            <a:avLst/>
          </a:prstGeom>
        </p:spPr>
      </p:pic>
      <p:pic>
        <p:nvPicPr>
          <p:cNvPr id="9" name="Picture 8" descr="s12_3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429000"/>
            <a:ext cx="365760" cy="365760"/>
          </a:xfrm>
          <a:prstGeom prst="rect">
            <a:avLst/>
          </a:prstGeom>
        </p:spPr>
      </p:pic>
      <p:pic>
        <p:nvPicPr>
          <p:cNvPr id="10" name="Picture 9" descr="s12_3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429000"/>
            <a:ext cx="365760" cy="365760"/>
          </a:xfrm>
          <a:prstGeom prst="rect">
            <a:avLst/>
          </a:prstGeom>
        </p:spPr>
      </p:pic>
      <p:pic>
        <p:nvPicPr>
          <p:cNvPr id="11" name="Picture 10" descr="s12_3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429000"/>
            <a:ext cx="365760" cy="365760"/>
          </a:xfrm>
          <a:prstGeom prst="rect">
            <a:avLst/>
          </a:prstGeom>
        </p:spPr>
      </p:pic>
      <p:pic>
        <p:nvPicPr>
          <p:cNvPr id="12" name="Picture 11" descr="s12_3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3429000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91840" y="388620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0F7C67"/>
                </a:solidFill>
                <a:latin typeface="IBM Plex Mono"/>
              </a:rPr>
              <a:t>@jritten  ·  linktr.ee/jritten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 I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B7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700" b="1" i="0">
                <a:solidFill>
                  <a:srgbClr val="3C78D8"/>
                </a:solidFill>
                <a:latin typeface="Google Sans"/>
              </a:rPr>
              <a:t>Help developers grow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20344B"/>
                </a:solidFill>
                <a:latin typeface="Google Sans"/>
              </a:rPr>
              <a:t>My job is to help IBMers become better developers through the InnerSource@IBM ecosystem.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4300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B7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280160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700" b="1" i="0">
                <a:solidFill>
                  <a:srgbClr val="3C78D8"/>
                </a:solidFill>
                <a:latin typeface="Google Sans"/>
              </a:rPr>
              <a:t>Don’t reinvent the wheel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205740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20344B"/>
                </a:solidFill>
                <a:latin typeface="Google Sans"/>
              </a:rPr>
              <a:t>Cross-team collaboration: find what already exists, reuse it, and build on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4300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B7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280160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700" b="1" i="0">
                <a:solidFill>
                  <a:srgbClr val="3C78D8"/>
                </a:solidFill>
                <a:latin typeface="Google Sans"/>
              </a:rPr>
              <a:t>Build 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05740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20344B"/>
                </a:solidFill>
                <a:latin typeface="Google Sans"/>
              </a:rPr>
              <a:t>Compass Detroit, GDG Detroit, and Michigan DevFest: spaces where anyone can learn to be technical.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Meet Your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Take 30 seconds each. One row per teammate (teams of up to 5).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90472"/>
          <a:ext cx="8229600" cy="27066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1554480"/>
                <a:gridCol w="1828800"/>
                <a:gridCol w="155448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Name + pronouns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Program / role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Skills you bring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Something you love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Quirk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Hackathon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come up with an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research the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finalize your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determine the MVP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09728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hack it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182880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6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build a pitch deck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256032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7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practice the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329184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8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submit on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Come Up With an Idea</a:t>
            </a:r>
          </a:p>
        </p:txBody>
      </p:sp>
      <p:pic>
        <p:nvPicPr>
          <p:cNvPr id="5" name="Picture 4" descr="c31_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247" y="932688"/>
            <a:ext cx="1485186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What’s the Theme?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Which track or theme are you building for? Say it in your own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Who’s the User?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Name one real person or role. What does their day look like? What frustrates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Why Does This Matter?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What happens if nobody solves this? Who is affected, and how often?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Why Do I Care?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Why does your team care about this problem? Judges only get as excited as you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Fill in the blanks:  “[User] struggles to [task] because [reason], which costs them [impact].”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Research the Idea</a:t>
            </a:r>
          </a:p>
        </p:txBody>
      </p:sp>
      <p:pic>
        <p:nvPicPr>
          <p:cNvPr id="5" name="Picture 4" descr="c27_3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883" y="932688"/>
            <a:ext cx="2169914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 Is The Impact?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Find two data points that show how big this problem is. Always note the source.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3408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12064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Data point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Source (link)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 Solutions Already Exist?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List apps, tools, or services people use today. Search before you build.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5237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3840480"/>
                <a:gridCol w="20116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Existing solution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it does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Link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Where Are They Failing?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Where do the existing solutions fall short for your user? Cost, access, speed, trust, language?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Do It Better.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In one sentence: how is your solution better for your user?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Design for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Tech is impressive. Tech that fits real human needs is impactful.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Keep the user in mind: who are you building for, and what problem are you solving?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AI brings responsibility: think about bias and how people will interact with it.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7C67"/>
                </a:solidFill>
                <a:latin typeface="IBM Plex Mono"/>
              </a:rPr>
              <a:t>ibm.com/design/ai/team-essentials</a:t>
            </a:r>
          </a:p>
        </p:txBody>
      </p:sp>
      <p:pic>
        <p:nvPicPr>
          <p:cNvPr id="6" name="Picture 5" descr="c28_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56" y="1051560"/>
            <a:ext cx="251790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How Does Your AI Impact Users?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What will your AI do for users, and what could go wrong for them if it gets something wrong?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 Biases Might Come 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Think about your data, your model, and who is missing from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How Will You Reduce Bias?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What will you do about it? Test with different users, add human review, show sources, let users correct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Finalize Your Idea</a:t>
            </a:r>
          </a:p>
        </p:txBody>
      </p:sp>
      <p:pic>
        <p:nvPicPr>
          <p:cNvPr id="5" name="Picture 4" descr="c28_4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731" y="932688"/>
            <a:ext cx="2324219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What’s the Business Value?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Who would pay for, fund, or adopt this, and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What’s the Impact?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If this works, what changes for your user? How would you measure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Is It Realistic?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Can your team build a working version in the time you have, with the skills and tools you have?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Did You Innovate?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What is new here? What does your solution do that others don’t?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Size Your Target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Market Valuation (1 of 2): who is your market, about how many people or organizations, and where are they?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Revenue Potential and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Market Valuation (2 of 2): what would people pay or save? How would this grow beyond your first users?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Top Competitors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Competitive Analysis (1 of 2): competitors aren’t bad. They show you where to go further.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5237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3108960"/>
                <a:gridCol w="29260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Competitor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Key features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Where it falls short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Gaps You Can Fill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Competitive Analysis (2 of 2): what is your edge? Why would a user switch to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Choose a Monetization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Monetization (1 of 2): freemium, subscription, ads, one-time purchase, licensing, grants? Pick what fits your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Costs and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Monetization (2 of 2): rough numbers are fine. List what it costs to run and what it could bring in.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6151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06240"/>
                <a:gridCol w="2011680"/>
                <a:gridCol w="20116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Item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Cost or revenue?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Estimate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Determine the MVP</a:t>
            </a:r>
          </a:p>
        </p:txBody>
      </p:sp>
      <p:pic>
        <p:nvPicPr>
          <p:cNvPr id="5" name="Picture 4" descr="c32_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210" y="932688"/>
            <a:ext cx="2377261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Which AI Frameworks?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Models, APIs, or frameworks you might use. Check the sponsor tools on the Event Info slide and the AI links at the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Which Open-Source Tools?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Libraries, templates, datasets, or starter projects you can build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What’s the Scope?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Your MVP is the smallest thing that proves your idea works. Everything else goes on the later list.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6151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114800"/>
                <a:gridCol w="4114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In the MVP (this weekend)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Later (document it, don’t build it)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KISS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Keep it simple.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skip the login / 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29967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focus on the main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79776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build out the main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28016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add ≤ 1 extra feature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2029967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document future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2779776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6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solving the problem, or a symptom?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Hack It Out</a:t>
            </a:r>
          </a:p>
        </p:txBody>
      </p:sp>
      <p:pic>
        <p:nvPicPr>
          <p:cNvPr id="5" name="Picture 4" descr="c29_4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776" y="932688"/>
            <a:ext cx="3747464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Team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Delegate the work. One name per row; people can hold more than one role.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5968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420624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Role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they 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Team lead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Decisions, timeline, and the final submission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Builder(s)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Tech stack, repo setup, APIs, and the working MVP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Design / UX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The main view and the user flow the demo walks through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Research + pitch lead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Problem research, impact data, pitch deck, and presenting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Build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Fill in real times from the event schedule. Protect the last hours for the pitch and the video.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6151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23360"/>
                <a:gridCol w="2011680"/>
                <a:gridCol w="1463040"/>
                <a:gridCol w="7315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Checkpoint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Done?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Idea locked (roles assigned, repo set up)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MVP working end to end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Feature freeze: stop adding, start polishing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Demo video recorded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Submitted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(see Event Info)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Tech and Data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Check the event rules before you write code. Answer each one.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5968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06240"/>
                <a:gridCol w="548640"/>
                <a:gridCol w="3474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Rule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Our notes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Use only data we’re allowed to use (source + license)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No personal information in our data or demo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No API keys in our repo (use environment variables)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Note which AI tools we used, and for what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Build a Pitch Deck</a:t>
            </a:r>
          </a:p>
        </p:txBody>
      </p:sp>
      <p:pic>
        <p:nvPicPr>
          <p:cNvPr id="5" name="Picture 4" descr="c31_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247" y="932688"/>
            <a:ext cx="1485186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Pitch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introduce the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36776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tell a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21991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07208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2 data points of 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92424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introduce the 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1051560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6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problem it solves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636776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7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potential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2221991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8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807208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9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next steps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Be Passionate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Finish the sentence: “The problem we are solving is important to us because…”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Tell a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Your pitch is a story. One line for each part.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843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0"/>
                <a:gridCol w="45720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Story beat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Our line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Hero: who is your user, and why are they here?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Problem: the crisis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Solution: the resolution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Demo: the adventure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Next steps: look into the future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Do Your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Who’s your market? How big is it, and where?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Who are your competitors?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How are you different? What’s your competitive advantage?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0F7C67"/>
                </a:solidFill>
                <a:latin typeface="Google Sans"/>
              </a:rPr>
              <a:t>You already answered these in Step 3. Pull them into your deck.</a:t>
            </a:r>
          </a:p>
        </p:txBody>
      </p:sp>
      <p:pic>
        <p:nvPicPr>
          <p:cNvPr id="6" name="Picture 5" descr="c27_3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620" y="1051560"/>
            <a:ext cx="23507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Start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Write ideas down as you ideate and build.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Keep iterating on your pitch and value proposition.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Decide early who is going to pitch.</a:t>
            </a:r>
          </a:p>
        </p:txBody>
      </p:sp>
      <p:pic>
        <p:nvPicPr>
          <p:cNvPr id="6" name="Picture 5" descr="c63_12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832" y="1051560"/>
            <a:ext cx="180352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Don’t Memorize, Write It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Bullet points, not a script.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Know your first and last line cold.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Practice out loud, then trust your notes.</a:t>
            </a:r>
          </a:p>
        </p:txBody>
      </p:sp>
      <p:pic>
        <p:nvPicPr>
          <p:cNvPr id="6" name="Picture 5" descr="c32_4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993" y="1051560"/>
            <a:ext cx="2575367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Practice the Demo</a:t>
            </a:r>
          </a:p>
        </p:txBody>
      </p:sp>
      <p:pic>
        <p:nvPicPr>
          <p:cNvPr id="5" name="Picture 4" descr="c32_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210" y="932688"/>
            <a:ext cx="2377261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Demo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one person presents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47088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one person demos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96896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everyone should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59" y="109728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practice it out 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847088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demo to other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2596896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6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apply their feedback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60-Second Demo Video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Record this before the final morning so a flaky demo can’t sink you.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9626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2651760"/>
                <a:gridCol w="43891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Beat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we show and say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0:00–0:10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User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Who this is for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0:10–0:20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Problem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What gets in their way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0:20–0:50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Three clicks through the solution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Click 1, click 2, click 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0:50–1:00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What changes for them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Everyone Should Test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Every teammate clicks through the full demo.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Test on the laptop you’ll present from.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Test on the event Wi-Fi, or plan to run offline.</a:t>
            </a:r>
          </a:p>
        </p:txBody>
      </p:sp>
      <p:pic>
        <p:nvPicPr>
          <p:cNvPr id="6" name="Picture 5" descr="c28_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56" y="1051560"/>
            <a:ext cx="251790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Practice With Another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Trade a 5-minute run-through with a nearby team.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Ask: what was confusing? What would you ask?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Time it. Every time.</a:t>
            </a:r>
          </a:p>
        </p:txBody>
      </p:sp>
      <p:pic>
        <p:nvPicPr>
          <p:cNvPr id="6" name="Picture 5" descr="c63_12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832" y="1051560"/>
            <a:ext cx="180352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Apply Their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Write down what you heard, then decide what you’ll change.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7066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474720"/>
                <a:gridCol w="3474720"/>
                <a:gridCol w="12801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Feedback we got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we’ll change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Anticipate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Prepare short answers. Add questions you think your judges will ask.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843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0"/>
                <a:gridCol w="45720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Our answer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What did you build your app on?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How are you different from what’s already out there?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How do you plan to make money or sustain it?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When Things Go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Only your team knows “that wasn’t supposed to happen.”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Keep screenshots and a recorded demo on hand.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If it breaks, keep pitching. Talk through what should happen.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People love humility and tenacity.</a:t>
            </a:r>
          </a:p>
        </p:txBody>
      </p:sp>
      <p:pic>
        <p:nvPicPr>
          <p:cNvPr id="6" name="Picture 5" descr="c31_4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409" y="1051560"/>
            <a:ext cx="1608951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Submit On Time!</a:t>
            </a:r>
          </a:p>
        </p:txBody>
      </p:sp>
      <p:pic>
        <p:nvPicPr>
          <p:cNvPr id="5" name="Picture 4" descr="c27_3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883" y="932688"/>
            <a:ext cx="2169914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Judging Criteria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Copy each criterion from the rules. Teams who design toward the rubric win more often.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843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292608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Criterion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judges want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How our project shows it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Submission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Check off each item. The team lead submits; everyone double-checks.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1579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"/>
                <a:gridCol w="585216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Item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Repo URL (public, with README)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Demo video URL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Problem and solution statements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Technologies used (including AI tools)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Submitted before the deadline (see Event Info)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800" b="1" i="0">
                <a:solidFill>
                  <a:srgbClr val="3C78D8"/>
                </a:solidFill>
                <a:latin typeface="Google Sans"/>
              </a:rPr>
              <a:t>You Can Do 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5486400" cy="1463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Let’s stay connected: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7C67"/>
                </a:solidFill>
                <a:latin typeface="IBM Plex Mono"/>
              </a:rPr>
              <a:t>linktr.ee/jritten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7C67"/>
                </a:solidFill>
                <a:latin typeface="IBM Plex Mono"/>
              </a:rPr>
              <a:t>youtube: bit.ly/jritten_youtube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7C67"/>
                </a:solidFill>
                <a:latin typeface="IBM Plex Mono"/>
              </a:rPr>
              <a:t>linkedin.com/in/jritten</a:t>
            </a:r>
          </a:p>
        </p:txBody>
      </p:sp>
      <p:pic>
        <p:nvPicPr>
          <p:cNvPr id="6" name="Picture 5" descr="c28_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333" y="822960"/>
            <a:ext cx="2647027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6000" b="1" i="0">
                <a:solidFill>
                  <a:srgbClr val="3C78D8"/>
                </a:solidFill>
                <a:latin typeface="Google Sans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600" b="0" i="0">
                <a:solidFill>
                  <a:srgbClr val="5F6368"/>
                </a:solidFill>
                <a:latin typeface="Google Sans"/>
              </a:rPr>
              <a:t>Resources on the next three slides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Resources: Public Datasets</a:t>
            </a:r>
          </a:p>
        </p:txBody>
      </p:sp>
      <p:pic>
        <p:nvPicPr>
          <p:cNvPr id="5" name="Picture 4" descr="ds-ka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8872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30551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Kaggle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77439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kaggle.com/datasets</a:t>
            </a:r>
          </a:p>
        </p:txBody>
      </p:sp>
      <p:pic>
        <p:nvPicPr>
          <p:cNvPr id="8" name="Picture 7" descr="ds-h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118872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600" y="2130551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Hugging Face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39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huggingface.co/datasets</a:t>
            </a:r>
          </a:p>
        </p:txBody>
      </p:sp>
      <p:pic>
        <p:nvPicPr>
          <p:cNvPr id="11" name="Picture 10" descr="ds-goo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18872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2130551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Google Dataset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39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datasetsearch.research.google.com</a:t>
            </a:r>
          </a:p>
        </p:txBody>
      </p:sp>
      <p:pic>
        <p:nvPicPr>
          <p:cNvPr id="14" name="Picture 13" descr="ds-datago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0" y="118872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2130551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Data.gov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39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data.gov</a:t>
            </a:r>
          </a:p>
        </p:txBody>
      </p:sp>
      <p:pic>
        <p:nvPicPr>
          <p:cNvPr id="17" name="Picture 16" descr="ds-michig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2761488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85900" y="3703320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Michigan Open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180" y="3950207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data.michigan.gov</a:t>
            </a:r>
          </a:p>
        </p:txBody>
      </p:sp>
      <p:pic>
        <p:nvPicPr>
          <p:cNvPr id="20" name="Picture 19" descr="ds-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2761488"/>
            <a:ext cx="914400" cy="914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43300" y="3703320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GitHub 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7580" y="3950207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github.com/search?q=datasets</a:t>
            </a:r>
          </a:p>
        </p:txBody>
      </p:sp>
      <p:pic>
        <p:nvPicPr>
          <p:cNvPr id="23" name="Picture 22" descr="ds-atlassi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2761488"/>
            <a:ext cx="914400" cy="914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00700" y="3703320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Free datasets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4980" y="3950207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atlassian.com/data/business-intelligence/free-datasets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Resources: AI Models and Tools</a:t>
            </a:r>
          </a:p>
        </p:txBody>
      </p:sp>
      <p:pic>
        <p:nvPicPr>
          <p:cNvPr id="5" name="Picture 4" descr="ai-gran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IBM Granite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ibm.com/granite</a:t>
            </a:r>
          </a:p>
        </p:txBody>
      </p:sp>
      <p:pic>
        <p:nvPicPr>
          <p:cNvPr id="8" name="Picture 7" descr="ai-watson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417320"/>
            <a:ext cx="146304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IBM watsonx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ibm.com/watsonx</a:t>
            </a:r>
          </a:p>
        </p:txBody>
      </p:sp>
      <p:pic>
        <p:nvPicPr>
          <p:cNvPr id="11" name="Picture 10" descr="ai-google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79" y="141732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49039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Google AI (Gemini)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ai.google.dev</a:t>
            </a:r>
          </a:p>
        </p:txBody>
      </p:sp>
      <p:pic>
        <p:nvPicPr>
          <p:cNvPr id="14" name="Picture 13" descr="ai-vert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417320"/>
            <a:ext cx="1463040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4960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Google Vertex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cloud.google.com/vertex-ai</a:t>
            </a:r>
          </a:p>
        </p:txBody>
      </p:sp>
      <p:pic>
        <p:nvPicPr>
          <p:cNvPr id="17" name="Picture 16" descr="ai-hfmode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1417320"/>
            <a:ext cx="1463040" cy="146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40880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Hugging Face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huggingface.co/models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Resources: Design, Pitch, Dev</a:t>
            </a:r>
          </a:p>
        </p:txBody>
      </p:sp>
      <p:pic>
        <p:nvPicPr>
          <p:cNvPr id="5" name="Picture 4" descr="r-desig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1732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907792"/>
            <a:ext cx="27432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200" b="1" i="0">
                <a:solidFill>
                  <a:srgbClr val="20344B"/>
                </a:solidFill>
                <a:latin typeface="Google Sans"/>
              </a:rPr>
              <a:t>IBM Design for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154680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ibm.com/design/ai/team-essentials</a:t>
            </a:r>
          </a:p>
        </p:txBody>
      </p:sp>
      <p:pic>
        <p:nvPicPr>
          <p:cNvPr id="8" name="Picture 7" descr="r-p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417320"/>
            <a:ext cx="146304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2907792"/>
            <a:ext cx="27432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200" b="1" i="0">
                <a:solidFill>
                  <a:srgbClr val="20344B"/>
                </a:solidFill>
                <a:latin typeface="Google Sans"/>
              </a:rPr>
              <a:t>Pitch deck outline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154680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ibm.biz/pitch-deck-outline</a:t>
            </a:r>
          </a:p>
        </p:txBody>
      </p:sp>
      <p:pic>
        <p:nvPicPr>
          <p:cNvPr id="11" name="Picture 10" descr="r-ibmde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41732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0" y="2907792"/>
            <a:ext cx="27432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200" b="1" i="0">
                <a:solidFill>
                  <a:srgbClr val="20344B"/>
                </a:solidFill>
                <a:latin typeface="Google Sans"/>
              </a:rPr>
              <a:t>IBM 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154680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developer.ibm.com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